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7263383" cy="82219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_design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01967" cy="8203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0106" y="615798"/>
            <a:ext cx="487576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5 lesions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98171" y="615798"/>
            <a:ext cx="853284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Programme scores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TF activity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99352" y="615798"/>
            <a:ext cx="786791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Candidate factors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and thresholds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041" y="1259379"/>
            <a:ext cx="447707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3 lesions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98171" y="1259379"/>
            <a:ext cx="853284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Same pipeline,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cohort-internal cuts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1819" y="1259379"/>
            <a:ext cx="761857" cy="2186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Sign confirmation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3706" y="888324"/>
            <a:ext cx="628872" cy="3171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Independent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cohort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(GSE164241)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73" y="91432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720" y="2564717"/>
            <a:ext cx="1311976" cy="1074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Discovery, 5 lesions  n=44,433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387" y="5145583"/>
            <a:ext cx="79200" cy="792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9387" y="5131183"/>
            <a:ext cx="92298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Endothelium (4,375)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387" y="5262158"/>
            <a:ext cx="79200" cy="79200"/>
          </a:xfrm>
          <a:prstGeom prst="rect">
            <a:avLst/>
          </a:prstGeom>
          <a:solidFill>
            <a:srgbClr val="80C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9387" y="5247758"/>
            <a:ext cx="74924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Epithelium (968)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387" y="5378734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9387" y="5364334"/>
            <a:ext cx="102357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Immune cells (29,358)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387" y="5495309"/>
            <a:ext cx="79200" cy="79200"/>
          </a:xfrm>
          <a:prstGeom prst="rect">
            <a:avLst/>
          </a:prstGeom>
          <a:solidFill>
            <a:srgbClr val="C99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387" y="5480909"/>
            <a:ext cx="105100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Pericytes/SMC (3,517)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387" y="5611885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387" y="5597485"/>
            <a:ext cx="950422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Stromal cells (6,215)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7698" y="2580579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9117" y="2564717"/>
            <a:ext cx="1278730" cy="1074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Validation, 3 lesions  n=26,090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1869" y="5145583"/>
            <a:ext cx="79200" cy="792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59869" y="5131183"/>
            <a:ext cx="92298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Endothelium (1,916)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51869" y="5262158"/>
            <a:ext cx="79200" cy="79200"/>
          </a:xfrm>
          <a:prstGeom prst="rect">
            <a:avLst/>
          </a:prstGeom>
          <a:solidFill>
            <a:srgbClr val="80C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9869" y="5247758"/>
            <a:ext cx="74924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Epithelium (463)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51869" y="5378734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59869" y="5364334"/>
            <a:ext cx="1023575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Immune cells (20,413)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51869" y="5495309"/>
            <a:ext cx="79200" cy="79200"/>
          </a:xfrm>
          <a:prstGeom prst="rect">
            <a:avLst/>
          </a:prstGeom>
          <a:solidFill>
            <a:srgbClr val="C99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59869" y="5480909"/>
            <a:ext cx="105100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Pericytes/SMC (1,154)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51869" y="5611885"/>
            <a:ext cx="79200" cy="79200"/>
          </a:xfrm>
          <a:prstGeom prst="rect">
            <a:avLst/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59869" y="5597485"/>
            <a:ext cx="1069296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Schwann / neural (365)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51869" y="5728460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59869" y="5714060"/>
            <a:ext cx="950422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Stromal cells (1,779)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6095" y="2580579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67514" y="2564786"/>
            <a:ext cx="986268" cy="1068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Compartment markers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96911" y="2580579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81368" y="5709391"/>
            <a:ext cx="487576" cy="1068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00914" y="5709391"/>
            <a:ext cx="447707" cy="1068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39220" y="8031859"/>
            <a:ext cx="79200" cy="792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547220" y="8017459"/>
            <a:ext cx="57550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Endothelium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67328" y="8031859"/>
            <a:ext cx="79200" cy="79200"/>
          </a:xfrm>
          <a:prstGeom prst="rect">
            <a:avLst/>
          </a:prstGeom>
          <a:solidFill>
            <a:srgbClr val="80CD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275328" y="8017459"/>
            <a:ext cx="484066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Epithelium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03995" y="8031859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11995" y="8017459"/>
            <a:ext cx="62123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Immune cells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77824" y="8031859"/>
            <a:ext cx="79200" cy="79200"/>
          </a:xfrm>
          <a:prstGeom prst="rect">
            <a:avLst/>
          </a:prstGeom>
          <a:solidFill>
            <a:srgbClr val="C99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85824" y="8017459"/>
            <a:ext cx="70352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Pericytes/SMC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433952" y="8031859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41952" y="8017459"/>
            <a:ext cx="602941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Stromal cells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189493" y="8031859"/>
            <a:ext cx="79200" cy="79200"/>
          </a:xfrm>
          <a:prstGeom prst="rect">
            <a:avLst/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97493" y="8017459"/>
            <a:ext cx="804114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Schwann / neural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7133" y="5443649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505053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85699" y="1050499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59085" y="1036099"/>
            <a:ext cx="1005038" cy="1386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(5 lesions)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385699" y="1249147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93699" y="1234747"/>
            <a:ext cx="960342" cy="1386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(3 lesions)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815" y="425561"/>
            <a:ext cx="1484841" cy="1097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Programme score by compartment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3459" y="486178"/>
            <a:ext cx="108000" cy="1072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9" name="Rectangle 8"/>
          <p:cNvSpPr/>
          <p:nvPr/>
        </p:nvSpPr>
        <p:spPr>
          <a:xfrm>
            <a:off x="1475541" y="7826721"/>
            <a:ext cx="79200" cy="79200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83541" y="4897436"/>
            <a:ext cx="362118" cy="1386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all cells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0954" y="7720454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08954" y="4715354"/>
            <a:ext cx="967767" cy="3207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top decile of</a:t>
            </a:r>
          </a:p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tissue-forming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4523" y="2670805"/>
            <a:ext cx="108000" cy="1072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1599" y="3055543"/>
            <a:ext cx="108000" cy="1072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tf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630924" cy="82219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29952" y="686708"/>
            <a:ext cx="329644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MYRF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94178" y="855435"/>
            <a:ext cx="379510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SMAD3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5952" y="395085"/>
            <a:ext cx="296399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DLX5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9995" y="649873"/>
            <a:ext cx="379510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RUNX2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5747" y="228388"/>
            <a:ext cx="238222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SP7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7815" y="91438"/>
            <a:ext cx="1165819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Tissue-forming programme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855" y="123883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6032" y="638545"/>
            <a:ext cx="246533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2816" y="237416"/>
            <a:ext cx="362888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NFKB1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17902" y="443955"/>
            <a:ext cx="304711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RELA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0630" y="517039"/>
            <a:ext cx="362888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NFKB2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9555" y="309896"/>
            <a:ext cx="304711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RELB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5105" y="91438"/>
            <a:ext cx="1085955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Inflammatory programme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2145" y="123883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4609" y="2701941"/>
            <a:ext cx="487555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9857" y="2701941"/>
            <a:ext cx="447688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815" y="2502411"/>
            <a:ext cx="1960049" cy="1074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Top-20 candidates, Tissue-forming programme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518" y="2501995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1899" y="2701941"/>
            <a:ext cx="487555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147" y="2701941"/>
            <a:ext cx="447688" cy="10680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5105" y="2502411"/>
            <a:ext cx="1882003" cy="1074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Top-20 candidates, Inflammatory programme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02808" y="2501995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4391" y="8028103"/>
            <a:ext cx="79200" cy="79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2391" y="8013703"/>
            <a:ext cx="1146666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random 20 factors, mean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62824" y="8028103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70824" y="8013703"/>
            <a:ext cx="891759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pooled ρ same sign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6350" y="8028103"/>
            <a:ext cx="79200" cy="79200"/>
          </a:xfrm>
          <a:prstGeom prst="rect">
            <a:avLst/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4350" y="8013703"/>
            <a:ext cx="1128458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same sign in all 3 lesions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22" y="6210135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6523" y="6210135"/>
            <a:ext cx="108000" cy="1072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_coupling_coexis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70545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102" y="1335313"/>
            <a:ext cx="13017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5507" y="934137"/>
            <a:ext cx="13017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4755" y="1193791"/>
            <a:ext cx="138486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8160" y="1510343"/>
            <a:ext cx="138486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720" y="1385495"/>
            <a:ext cx="13017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4136" y="1408877"/>
            <a:ext cx="30470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0945" y="1730078"/>
            <a:ext cx="30470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7753" y="1301402"/>
            <a:ext cx="30470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528" y="2253979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6528" y="2239579"/>
            <a:ext cx="846637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lesions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528" y="2391747"/>
            <a:ext cx="79200" cy="79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6528" y="2377347"/>
            <a:ext cx="828002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pooled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76823" y="2253979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84823" y="2239579"/>
            <a:ext cx="801941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lesions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76823" y="2391747"/>
            <a:ext cx="79200" cy="79200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4823" y="2377347"/>
            <a:ext cx="783306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pooled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855" y="794019"/>
            <a:ext cx="108000" cy="107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8948" y="2230907"/>
            <a:ext cx="79200" cy="79200"/>
          </a:xfrm>
          <a:prstGeom prst="rect">
            <a:avLst/>
          </a:prstGeom>
          <a:solidFill>
            <a:srgbClr val="DBD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16948" y="2216507"/>
            <a:ext cx="1051626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permutation null (95%)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95399" y="2230907"/>
            <a:ext cx="79200" cy="79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3399" y="2216507"/>
            <a:ext cx="464613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null mean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94836" y="2230907"/>
            <a:ext cx="79200" cy="79200"/>
          </a:xfrm>
          <a:prstGeom prst="rect">
            <a:avLst/>
          </a:prstGeom>
          <a:solidFill>
            <a:srgbClr val="762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58425" y="2216507"/>
            <a:ext cx="1405698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unrelated factors (mean of 10)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2960" y="794019"/>
            <a:ext cx="108000" cy="107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8657" y="2302877"/>
            <a:ext cx="487541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22097" y="2302877"/>
            <a:ext cx="44767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38160" y="4097343"/>
            <a:ext cx="79200" cy="79200"/>
          </a:xfrm>
          <a:prstGeom prst="rect">
            <a:avLst/>
          </a:prstGeom>
          <a:solidFill>
            <a:srgbClr val="440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46160" y="4082943"/>
            <a:ext cx="613695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inflammatory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10812" y="4097343"/>
            <a:ext cx="79200" cy="79200"/>
          </a:xfrm>
          <a:prstGeom prst="rect">
            <a:avLst/>
          </a:prstGeom>
          <a:solidFill>
            <a:srgbClr val="316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18812" y="4082943"/>
            <a:ext cx="585742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intermediate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5511" y="4097343"/>
            <a:ext cx="79200" cy="79200"/>
          </a:xfrm>
          <a:prstGeom prst="rect">
            <a:avLst/>
          </a:prstGeom>
          <a:solidFill>
            <a:srgbClr val="35B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3511" y="4082943"/>
            <a:ext cx="678919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tissue-forming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93386" y="4097343"/>
            <a:ext cx="79200" cy="792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01386" y="4082943"/>
            <a:ext cx="288000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other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815" y="2178866"/>
            <a:ext cx="495852" cy="1073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Cell states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8522" y="2234055"/>
            <a:ext cx="108000" cy="107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9815" y="3653993"/>
            <a:ext cx="499228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  n=2,314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9660" y="3654830"/>
            <a:ext cx="108000" cy="107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33304" y="3653993"/>
            <a:ext cx="42936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B  n=739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6794" y="3653993"/>
            <a:ext cx="512474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  n=1,018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0283" y="3653993"/>
            <a:ext cx="512474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  n=1,418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9815" y="4363177"/>
            <a:ext cx="429365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E  n=726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33304" y="4363177"/>
            <a:ext cx="60389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CAP1  n=860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56794" y="4363177"/>
            <a:ext cx="60389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CAP2  n=566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80283" y="4363177"/>
            <a:ext cx="603893" cy="1067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CAP3  n=353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56088" y="7487282"/>
            <a:ext cx="79200" cy="79200"/>
          </a:xfrm>
          <a:prstGeom prst="rect">
            <a:avLst/>
          </a:prstGeom>
          <a:solidFill>
            <a:srgbClr val="440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64088" y="6940904"/>
            <a:ext cx="1172756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Inflammatory programme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77266" y="7487282"/>
            <a:ext cx="79200" cy="79200"/>
          </a:xfrm>
          <a:prstGeom prst="rect">
            <a:avLst/>
          </a:prstGeom>
          <a:solidFill>
            <a:srgbClr val="35B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85266" y="6940904"/>
            <a:ext cx="1262293" cy="992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Tissue-forming programme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522" y="5466093"/>
            <a:ext cx="108000" cy="1072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0228" y="1890456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(n=5)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59458" y="1890456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(n=3)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05587" y="3365513"/>
            <a:ext cx="4392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(2,314)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01464" y="336551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(739)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93185" y="3365513"/>
            <a:ext cx="4392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(1,018)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89061" y="3365513"/>
            <a:ext cx="4392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(1,418)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89093" y="336551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(726)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97706" y="336551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(860)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3583" y="336551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(566)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89459" y="3365513"/>
            <a:ext cx="324000" cy="995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(353)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receptors_co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01384" cy="53995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1559" y="505254"/>
            <a:ext cx="1445245" cy="1068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Discovery, pseudobulk (5 lesions)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56465" y="4009781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4465" y="3995381"/>
            <a:ext cx="1419724" cy="129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NF-κB family set / with SMAD3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465" y="4189798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4465" y="4175398"/>
            <a:ext cx="1559025" cy="129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NF-κB family set / without SMAD3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1313" y="4009781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79313" y="3995381"/>
            <a:ext cx="1962127" cy="129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alternative set (ATF1, MTA1) / with SMAD3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71313" y="4189798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79313" y="4175398"/>
            <a:ext cx="2101428" cy="129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alternative set (ATF1, MTA1) / without SMAD3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6930" y="3014974"/>
            <a:ext cx="1435245" cy="1068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TF activity correlation (discovery)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9017" y="556392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212" y="556392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531" y="3058788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98447" y="3058788"/>
            <a:ext cx="108000" cy="1072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1071" y="4973970"/>
            <a:ext cx="324000" cy="99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(n=5)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169" y="4973970"/>
            <a:ext cx="324000" cy="996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(n=3)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6_compart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28254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80687" y="185564"/>
            <a:ext cx="1169030" cy="1067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Myeloid cells: intrinsic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2620" y="201857"/>
            <a:ext cx="108000" cy="107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3691" y="201857"/>
            <a:ext cx="108000" cy="107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7_independent_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33162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09653" y="1264187"/>
            <a:ext cx="587271" cy="106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pooled +0.03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7731" y="1398412"/>
            <a:ext cx="587271" cy="106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pooled −0.00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77933" y="964997"/>
            <a:ext cx="296392" cy="106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+0.08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815" y="194221"/>
            <a:ext cx="869840" cy="106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GSE164241 gingiva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4921" y="207190"/>
            <a:ext cx="108000" cy="1072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8" name="Rectangle 7"/>
          <p:cNvSpPr/>
          <p:nvPr/>
        </p:nvSpPr>
        <p:spPr>
          <a:xfrm>
            <a:off x="4813694" y="7434266"/>
            <a:ext cx="79200" cy="79200"/>
          </a:xfrm>
          <a:prstGeom prst="rect">
            <a:avLst/>
          </a:prstGeom>
          <a:solidFill>
            <a:srgbClr val="8C6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21694" y="3090599"/>
            <a:ext cx="1116850" cy="211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same sign as discovery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13694" y="7730490"/>
            <a:ext cx="79200" cy="7920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21694" y="3090599"/>
            <a:ext cx="1312521" cy="2112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consistent across all donors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1095" y="194221"/>
            <a:ext cx="1011124" cy="106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Candidate reproduction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8839" y="207190"/>
            <a:ext cx="108000" cy="1072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3538" y="2819550"/>
            <a:ext cx="669600" cy="995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(13 donors)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198" y="2819550"/>
            <a:ext cx="612000" cy="995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(8 donors)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4959" y="2929945"/>
            <a:ext cx="554400" cy="2114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(1 donor)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1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27355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815" y="183671"/>
            <a:ext cx="936326" cy="109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Discovery (5 lesions)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69487" y="1188433"/>
            <a:ext cx="79200" cy="79200"/>
          </a:xfrm>
          <a:prstGeom prst="rect">
            <a:avLst/>
          </a:prstGeom>
          <a:solidFill>
            <a:srgbClr val="A9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77487" y="1174033"/>
            <a:ext cx="288000" cy="2507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raw</a:t>
            </a:r>
          </a:p>
        </p:txBody>
      </p:sp>
      <p:sp>
        <p:nvSpPr>
          <p:cNvPr id="6" name="Rectangle 5"/>
          <p:cNvSpPr/>
          <p:nvPr/>
        </p:nvSpPr>
        <p:spPr>
          <a:xfrm>
            <a:off x="2769487" y="1540288"/>
            <a:ext cx="79200" cy="79200"/>
          </a:xfrm>
          <a:prstGeom prst="rect">
            <a:avLst/>
          </a:prstGeom>
          <a:solidFill>
            <a:srgbClr val="4A9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77487" y="1525888"/>
            <a:ext cx="445977" cy="256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QC 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9487" y="1897493"/>
            <a:ext cx="79200" cy="79200"/>
          </a:xfrm>
          <a:prstGeom prst="rect">
            <a:avLst/>
          </a:prstGeom>
          <a:solidFill>
            <a:srgbClr val="0A54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7487" y="1883093"/>
            <a:ext cx="380753" cy="256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singlets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708" y="201885"/>
            <a:ext cx="108000" cy="107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7690" y="183671"/>
            <a:ext cx="896071" cy="109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Validation (3 lesions)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97093" y="1183084"/>
            <a:ext cx="79200" cy="79200"/>
          </a:xfrm>
          <a:prstGeom prst="rect">
            <a:avLst/>
          </a:prstGeom>
          <a:solidFill>
            <a:srgbClr val="FDB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4074" y="1168684"/>
            <a:ext cx="800049" cy="256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raw (≥100 UMIs)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97093" y="1540288"/>
            <a:ext cx="79200" cy="79200"/>
          </a:xfrm>
          <a:prstGeom prst="rect">
            <a:avLst/>
          </a:prstGeom>
          <a:solidFill>
            <a:srgbClr val="F370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5093" y="1525888"/>
            <a:ext cx="445977" cy="256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QC pass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97093" y="1897493"/>
            <a:ext cx="79200" cy="79200"/>
          </a:xfrm>
          <a:prstGeom prst="rect">
            <a:avLst/>
          </a:prstGeom>
          <a:solidFill>
            <a:srgbClr val="AB38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05093" y="1883093"/>
            <a:ext cx="380753" cy="25606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singlets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76583" y="201885"/>
            <a:ext cx="108000" cy="1072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2_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2953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3658" y="542351"/>
            <a:ext cx="3006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6,215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5297" y="1905777"/>
            <a:ext cx="3006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1,868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6936" y="1906718"/>
            <a:ext cx="3006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1,865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840" y="212474"/>
            <a:ext cx="108000" cy="107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4592" y="212474"/>
            <a:ext cx="108000" cy="1072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3_genesets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31394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776" y="228408"/>
            <a:ext cx="108000" cy="1072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9729" y="228408"/>
            <a:ext cx="108000" cy="1072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4_matrix_vs_requant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322478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8683" y="1021828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6683" y="1007428"/>
            <a:ext cx="632331" cy="2171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author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988683" y="1321558"/>
            <a:ext cx="79200" cy="79200"/>
          </a:xfrm>
          <a:prstGeom prst="rect">
            <a:avLst/>
          </a:prstGeom>
          <a:solidFill>
            <a:srgbClr val="997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6683" y="1307158"/>
            <a:ext cx="1200709" cy="2171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re-quantified, all barcodes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88683" y="1621289"/>
            <a:ext cx="79200" cy="792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6683" y="1606889"/>
            <a:ext cx="1387062" cy="2171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re-quantified, matrix barcodes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815" y="192279"/>
            <a:ext cx="529095" cy="1097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Enrichment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31990" y="7417450"/>
            <a:ext cx="79200" cy="79200"/>
          </a:xfrm>
          <a:prstGeom prst="rect">
            <a:avLst/>
          </a:prstGeom>
          <a:solidFill>
            <a:srgbClr val="9970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9990" y="2993197"/>
            <a:ext cx="1340474" cy="2171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vs re-quantified, all barcodes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31990" y="7718799"/>
            <a:ext cx="79200" cy="79200"/>
          </a:xfrm>
          <a:prstGeom prst="rect">
            <a:avLst/>
          </a:prstGeom>
          <a:solidFill>
            <a:srgbClr val="1B78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9990" y="2993197"/>
            <a:ext cx="1526827" cy="2171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vs re-quantified, matrix barcodes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18157" y="192279"/>
            <a:ext cx="994502" cy="1097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Stromal-set agreement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4926" y="2150512"/>
            <a:ext cx="1249200" cy="19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Inflammatory programme</a:t>
            </a:r>
          </a:p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all barcodes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3326" y="1604683"/>
            <a:ext cx="1360800" cy="19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Tissue-forming programme</a:t>
            </a:r>
          </a:p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all barcodes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4926" y="1058855"/>
            <a:ext cx="1249200" cy="19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Inflammatory programme</a:t>
            </a:r>
          </a:p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matrix barcodes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3326" y="513027"/>
            <a:ext cx="1360800" cy="1970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Tissue-forming programme</a:t>
            </a:r>
          </a:p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matrix barcodes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6500" y="192279"/>
            <a:ext cx="952948" cy="1097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TF screen agreement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564" y="207165"/>
            <a:ext cx="108000" cy="1072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57073" y="207165"/>
            <a:ext cx="108000" cy="1072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4331" y="207165"/>
            <a:ext cx="108000" cy="1072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5_raw_vs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282549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815" y="183646"/>
            <a:ext cx="878150" cy="109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single-axis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92384" y="1142411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384" y="1128011"/>
            <a:ext cx="1023673" cy="2478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(per lesion)</a:t>
            </a:r>
          </a:p>
        </p:txBody>
      </p:sp>
      <p:sp>
        <p:nvSpPr>
          <p:cNvPr id="6" name="Rectangle 5"/>
          <p:cNvSpPr/>
          <p:nvPr/>
        </p:nvSpPr>
        <p:spPr>
          <a:xfrm>
            <a:off x="992384" y="1486353"/>
            <a:ext cx="79200" cy="79200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384" y="1471953"/>
            <a:ext cx="883908" cy="2478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(pooled)</a:t>
            </a:r>
          </a:p>
        </p:txBody>
      </p:sp>
      <p:sp>
        <p:nvSpPr>
          <p:cNvPr id="8" name="Rectangle 7"/>
          <p:cNvSpPr/>
          <p:nvPr/>
        </p:nvSpPr>
        <p:spPr>
          <a:xfrm>
            <a:off x="992384" y="1830295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0384" y="1815895"/>
            <a:ext cx="995720" cy="2478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(per lesion)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2384" y="2174237"/>
            <a:ext cx="79200" cy="79200"/>
          </a:xfrm>
          <a:prstGeom prst="rect">
            <a:avLst/>
          </a:prstGeom>
          <a:solidFill>
            <a:srgbClr val="E08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0384" y="2159837"/>
            <a:ext cx="855955" cy="2478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(pooled)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769" y="201857"/>
            <a:ext cx="108000" cy="107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06" y="183646"/>
            <a:ext cx="861529" cy="109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40" b="0">
                <a:solidFill>
                  <a:srgbClr val="000000"/>
                </a:solidFill>
                <a:latin typeface="Arial"/>
              </a:rPr>
              <a:t>composite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2960" y="201857"/>
            <a:ext cx="108000" cy="1072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6_leave_one_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42473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828" y="62641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6854" y="62641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0880" y="62641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4906" y="62641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8932" y="62641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828" y="953459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6854" y="953459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0880" y="953459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4906" y="953459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932" y="953459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828" y="1280508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6854" y="1280508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0880" y="1280508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4906" y="1280508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8932" y="1280508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28" y="1607557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6854" y="1607557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0880" y="1607557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4906" y="1607557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8932" y="1607557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228" y="1934606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4254" y="1934606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8280" y="1934606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2306" y="1934606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332" y="1934606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28" y="2261655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6854" y="2261655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0880" y="2261655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4906" y="2261655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8932" y="2261655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828" y="2588704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6854" y="2588704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90880" y="2588704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4906" y="2588704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18932" y="2588704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828" y="2915753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6854" y="2915753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90880" y="2915753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04906" y="2915753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8932" y="2915753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2828" y="3242802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64254" y="324280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78280" y="324280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2306" y="324280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18932" y="3242802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28" y="356985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6854" y="356985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90880" y="356985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04906" y="356985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18932" y="356985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594" y="313457"/>
            <a:ext cx="108000" cy="107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6468" y="313457"/>
            <a:ext cx="108000" cy="107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7_state_labe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604723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7770" y="759928"/>
            <a:ext cx="157191" cy="2460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within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05424" y="610318"/>
            <a:ext cx="157191" cy="395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projected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1068" y="759928"/>
            <a:ext cx="157191" cy="2460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within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88722" y="610318"/>
            <a:ext cx="157191" cy="395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projected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4367" y="759928"/>
            <a:ext cx="157191" cy="2460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within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72020" y="610318"/>
            <a:ext cx="157191" cy="395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projected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751723" y="3600677"/>
            <a:ext cx="79200" cy="79200"/>
          </a:xfrm>
          <a:prstGeom prst="rect">
            <a:avLst/>
          </a:prstGeom>
          <a:solidFill>
            <a:srgbClr val="4401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723" y="3586277"/>
            <a:ext cx="613695" cy="11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inflammatory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13840" y="3600677"/>
            <a:ext cx="79200" cy="79200"/>
          </a:xfrm>
          <a:prstGeom prst="rect">
            <a:avLst/>
          </a:prstGeom>
          <a:solidFill>
            <a:srgbClr val="3168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21840" y="3586277"/>
            <a:ext cx="585742" cy="11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intermediate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48005" y="3600677"/>
            <a:ext cx="79200" cy="79200"/>
          </a:xfrm>
          <a:prstGeom prst="rect">
            <a:avLst/>
          </a:prstGeom>
          <a:solidFill>
            <a:srgbClr val="35B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56005" y="3586277"/>
            <a:ext cx="678919" cy="11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tissue-forming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5347" y="3600677"/>
            <a:ext cx="79200" cy="79200"/>
          </a:xfrm>
          <a:prstGeom prst="rect">
            <a:avLst/>
          </a:prstGeom>
          <a:solidFill>
            <a:srgbClr val="C8A9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83347" y="3586277"/>
            <a:ext cx="288000" cy="11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other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559" y="630639"/>
            <a:ext cx="108000" cy="1072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5469" y="87684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498" y="87684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9627" y="876842"/>
            <a:ext cx="189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1157" y="876842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7569" y="1272792"/>
            <a:ext cx="189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402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36498" y="127279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87527" y="127279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1157" y="1272792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98069" y="1668742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6498" y="166874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59627" y="1668742"/>
            <a:ext cx="189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344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8557" y="166874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85469" y="2064691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498" y="2064691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92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59627" y="2064691"/>
            <a:ext cx="189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10657" y="2064691"/>
            <a:ext cx="189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26555" y="582915"/>
            <a:ext cx="853218" cy="1074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Cell-level confusion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13155" y="630639"/>
            <a:ext cx="108000" cy="1072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28108" y="6955255"/>
            <a:ext cx="79200" cy="7920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36108" y="5916991"/>
            <a:ext cx="855955" cy="11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Discovery (6,215)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28108" y="7122890"/>
            <a:ext cx="79200" cy="79200"/>
          </a:xfrm>
          <a:prstGeom prst="rect">
            <a:avLst/>
          </a:prstGeom>
          <a:solidFill>
            <a:srgbClr val="E69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36108" y="5916991"/>
            <a:ext cx="811259" cy="1158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000000"/>
                </a:solidFill>
                <a:latin typeface="Arial"/>
              </a:rPr>
              <a:t>Validation (1,779)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8279" y="2942775"/>
            <a:ext cx="2084780" cy="10740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Validation projected onto the discovery embedding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83926" y="2947737"/>
            <a:ext cx="108000" cy="1072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8_other_progra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263383" cy="30754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00" y="2324104"/>
            <a:ext cx="1506779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Survival / anti-apoptotic programme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6179" y="1783091"/>
            <a:ext cx="1305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Proliferation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9379" y="1195278"/>
            <a:ext cx="10818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Migration programme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" y="560666"/>
            <a:ext cx="1506779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Proliferation + migration programme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93567" y="220039"/>
            <a:ext cx="1179115" cy="107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Validation cohort (3 lesions)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036" y="223100"/>
            <a:ext cx="108000" cy="1072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5624" y="2370904"/>
            <a:ext cx="19746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Survival / anti-apoptotic programme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5224" y="1783091"/>
            <a:ext cx="1305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Proliferation programme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8424" y="1195278"/>
            <a:ext cx="10818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Migration programme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5624" y="607466"/>
            <a:ext cx="19746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000000"/>
                </a:solidFill>
                <a:latin typeface="Arial"/>
              </a:rPr>
              <a:t>Proliferation + migration programme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2612" y="220039"/>
            <a:ext cx="1368743" cy="1073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720" b="0">
                <a:solidFill>
                  <a:srgbClr val="000000"/>
                </a:solidFill>
                <a:latin typeface="Arial"/>
              </a:rPr>
              <a:t>Independent cohort GSE164241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7080" y="223100"/>
            <a:ext cx="108000" cy="1072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